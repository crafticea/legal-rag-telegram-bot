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swald Bold" charset="1" panose="00000800000000000000"/>
      <p:regular r:id="rId17"/>
    </p:embeddedFont>
    <p:embeddedFont>
      <p:font typeface="Poppins" charset="1" panose="00000500000000000000"/>
      <p:regular r:id="rId18"/>
    </p:embeddedFont>
    <p:embeddedFont>
      <p:font typeface="Canva Sans" charset="1" panose="020B05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16" Target="../media/image29.png" Type="http://schemas.openxmlformats.org/officeDocument/2006/relationships/image"/><Relationship Id="rId17" Target="../media/image3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svg" Type="http://schemas.openxmlformats.org/officeDocument/2006/relationships/image"/><Relationship Id="rId12" Target="../media/image41.png" Type="http://schemas.openxmlformats.org/officeDocument/2006/relationships/image"/><Relationship Id="rId13" Target="../media/image42.svg" Type="http://schemas.openxmlformats.org/officeDocument/2006/relationships/image"/><Relationship Id="rId14" Target="../media/image3.png" Type="http://schemas.openxmlformats.org/officeDocument/2006/relationships/image"/><Relationship Id="rId15" Target="../media/image4.svg" Type="http://schemas.openxmlformats.org/officeDocument/2006/relationships/image"/><Relationship Id="rId16" Target="../media/image43.png" Type="http://schemas.openxmlformats.org/officeDocument/2006/relationships/image"/><Relationship Id="rId17" Target="../media/image44.svg" Type="http://schemas.openxmlformats.org/officeDocument/2006/relationships/imag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svg" Type="http://schemas.openxmlformats.org/officeDocument/2006/relationships/image"/><Relationship Id="rId2" Target="../media/image45.png" Type="http://schemas.openxmlformats.org/officeDocument/2006/relationships/image"/><Relationship Id="rId3" Target="../media/image46.png" Type="http://schemas.openxmlformats.org/officeDocument/2006/relationships/image"/><Relationship Id="rId4" Target="../media/image47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Relationship Id="rId9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svg" Type="http://schemas.openxmlformats.org/officeDocument/2006/relationships/image"/><Relationship Id="rId11" Target="../media/image1.png" Type="http://schemas.openxmlformats.org/officeDocument/2006/relationships/image"/><Relationship Id="rId12" Target="../media/image2.svg" Type="http://schemas.openxmlformats.org/officeDocument/2006/relationships/image"/><Relationship Id="rId2" Target="../media/image50.png" Type="http://schemas.openxmlformats.org/officeDocument/2006/relationships/image"/><Relationship Id="rId3" Target="../media/image51.png" Type="http://schemas.openxmlformats.org/officeDocument/2006/relationships/image"/><Relationship Id="rId4" Target="../media/image52.jpe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53.png" Type="http://schemas.openxmlformats.org/officeDocument/2006/relationships/image"/><Relationship Id="rId8" Target="../media/image54.sv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57.png" Type="http://schemas.openxmlformats.org/officeDocument/2006/relationships/image"/><Relationship Id="rId5" Target="../media/image58.svg" Type="http://schemas.openxmlformats.org/officeDocument/2006/relationships/image"/><Relationship Id="rId6" Target="../media/image59.png" Type="http://schemas.openxmlformats.org/officeDocument/2006/relationships/image"/><Relationship Id="rId7" Target="../media/image6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jpeg" Type="http://schemas.openxmlformats.org/officeDocument/2006/relationships/image"/><Relationship Id="rId3" Target="../media/image62.png" Type="http://schemas.openxmlformats.org/officeDocument/2006/relationships/image"/><Relationship Id="rId4" Target="../media/image63.svg" Type="http://schemas.openxmlformats.org/officeDocument/2006/relationships/image"/><Relationship Id="rId5" Target="../media/image64.png" Type="http://schemas.openxmlformats.org/officeDocument/2006/relationships/image"/><Relationship Id="rId6" Target="../media/image6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6.png" Type="http://schemas.openxmlformats.org/officeDocument/2006/relationships/image"/><Relationship Id="rId5" Target="../media/image67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05256" y="3522212"/>
            <a:ext cx="5736088" cy="5736088"/>
          </a:xfrm>
          <a:custGeom>
            <a:avLst/>
            <a:gdLst/>
            <a:ahLst/>
            <a:cxnLst/>
            <a:rect r="r" b="b" t="t" l="l"/>
            <a:pathLst>
              <a:path h="5736088" w="5736088">
                <a:moveTo>
                  <a:pt x="0" y="0"/>
                </a:moveTo>
                <a:lnTo>
                  <a:pt x="5736088" y="0"/>
                </a:lnTo>
                <a:lnTo>
                  <a:pt x="5736088" y="5736088"/>
                </a:lnTo>
                <a:lnTo>
                  <a:pt x="0" y="5736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171006" y="7704592"/>
            <a:ext cx="5226653" cy="4114800"/>
          </a:xfrm>
          <a:custGeom>
            <a:avLst/>
            <a:gdLst/>
            <a:ahLst/>
            <a:cxnLst/>
            <a:rect r="r" b="b" t="t" l="l"/>
            <a:pathLst>
              <a:path h="4114800" w="5226653">
                <a:moveTo>
                  <a:pt x="522665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3" y="0"/>
                </a:lnTo>
                <a:lnTo>
                  <a:pt x="5226653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53" r="0" b="-55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66873" y="3035551"/>
            <a:ext cx="5992663" cy="3921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2"/>
              </a:lnSpc>
            </a:pPr>
            <a:r>
              <a:rPr lang="en-US" sz="7992" b="true">
                <a:solidFill>
                  <a:srgbClr val="262262"/>
                </a:solidFill>
                <a:latin typeface="Oswald Bold"/>
                <a:ea typeface="Oswald Bold"/>
                <a:cs typeface="Oswald Bold"/>
                <a:sym typeface="Oswald Bold"/>
              </a:rPr>
              <a:t>AI-ассистент по анализу материалов дела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10317004" y="0"/>
            <a:ext cx="5684996" cy="4837414"/>
          </a:xfrm>
          <a:custGeom>
            <a:avLst/>
            <a:gdLst/>
            <a:ahLst/>
            <a:cxnLst/>
            <a:rect r="r" b="b" t="t" l="l"/>
            <a:pathLst>
              <a:path h="4837414" w="5684996">
                <a:moveTo>
                  <a:pt x="5684996" y="4837414"/>
                </a:moveTo>
                <a:lnTo>
                  <a:pt x="0" y="4837414"/>
                </a:lnTo>
                <a:lnTo>
                  <a:pt x="0" y="0"/>
                </a:lnTo>
                <a:lnTo>
                  <a:pt x="5684996" y="0"/>
                </a:lnTo>
                <a:lnTo>
                  <a:pt x="5684996" y="48374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3" t="0" r="-82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69215" y="-1839344"/>
            <a:ext cx="5736088" cy="5736088"/>
          </a:xfrm>
          <a:custGeom>
            <a:avLst/>
            <a:gdLst/>
            <a:ahLst/>
            <a:cxnLst/>
            <a:rect r="r" b="b" t="t" l="l"/>
            <a:pathLst>
              <a:path h="5736088" w="5736088">
                <a:moveTo>
                  <a:pt x="0" y="0"/>
                </a:moveTo>
                <a:lnTo>
                  <a:pt x="5736088" y="0"/>
                </a:lnTo>
                <a:lnTo>
                  <a:pt x="5736088" y="5736088"/>
                </a:lnTo>
                <a:lnTo>
                  <a:pt x="0" y="5736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25283" y="0"/>
            <a:ext cx="9734502" cy="10292848"/>
            <a:chOff x="0" y="0"/>
            <a:chExt cx="12979336" cy="13723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79273" cy="13723747"/>
            </a:xfrm>
            <a:custGeom>
              <a:avLst/>
              <a:gdLst/>
              <a:ahLst/>
              <a:cxnLst/>
              <a:rect r="r" b="b" t="t" l="l"/>
              <a:pathLst>
                <a:path h="13723747" w="12979273">
                  <a:moveTo>
                    <a:pt x="2816225" y="0"/>
                  </a:moveTo>
                  <a:lnTo>
                    <a:pt x="10163048" y="0"/>
                  </a:lnTo>
                  <a:lnTo>
                    <a:pt x="12979273" y="13723747"/>
                  </a:lnTo>
                  <a:lnTo>
                    <a:pt x="0" y="13723747"/>
                  </a:lnTo>
                  <a:lnTo>
                    <a:pt x="2816225" y="0"/>
                  </a:lnTo>
                  <a:close/>
                </a:path>
              </a:pathLst>
            </a:custGeom>
            <a:blipFill>
              <a:blip r:embed="rId2"/>
              <a:stretch>
                <a:fillRect l="-43792" t="0" r="-43792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286000" y="3605565"/>
            <a:ext cx="10299173" cy="5652735"/>
          </a:xfrm>
          <a:custGeom>
            <a:avLst/>
            <a:gdLst/>
            <a:ahLst/>
            <a:cxnLst/>
            <a:rect r="r" b="b" t="t" l="l"/>
            <a:pathLst>
              <a:path h="5652735" w="10299173">
                <a:moveTo>
                  <a:pt x="0" y="0"/>
                </a:moveTo>
                <a:lnTo>
                  <a:pt x="10299173" y="0"/>
                </a:lnTo>
                <a:lnTo>
                  <a:pt x="10299173" y="5652735"/>
                </a:lnTo>
                <a:lnTo>
                  <a:pt x="0" y="56527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5400000">
            <a:off x="12085444" y="-564775"/>
            <a:ext cx="3378565" cy="4454547"/>
          </a:xfrm>
          <a:custGeom>
            <a:avLst/>
            <a:gdLst/>
            <a:ahLst/>
            <a:cxnLst/>
            <a:rect r="r" b="b" t="t" l="l"/>
            <a:pathLst>
              <a:path h="4454547" w="3378565">
                <a:moveTo>
                  <a:pt x="3378565" y="0"/>
                </a:moveTo>
                <a:lnTo>
                  <a:pt x="0" y="0"/>
                </a:lnTo>
                <a:lnTo>
                  <a:pt x="0" y="4454547"/>
                </a:lnTo>
                <a:lnTo>
                  <a:pt x="3378565" y="4454547"/>
                </a:lnTo>
                <a:lnTo>
                  <a:pt x="337856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46" t="0" r="-147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996612" y="3586629"/>
            <a:ext cx="3490112" cy="5671671"/>
          </a:xfrm>
          <a:custGeom>
            <a:avLst/>
            <a:gdLst/>
            <a:ahLst/>
            <a:cxnLst/>
            <a:rect r="r" b="b" t="t" l="l"/>
            <a:pathLst>
              <a:path h="5671671" w="3490112">
                <a:moveTo>
                  <a:pt x="0" y="0"/>
                </a:moveTo>
                <a:lnTo>
                  <a:pt x="3490113" y="0"/>
                </a:lnTo>
                <a:lnTo>
                  <a:pt x="3490113" y="5671671"/>
                </a:lnTo>
                <a:lnTo>
                  <a:pt x="0" y="56716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51824" y="2189731"/>
            <a:ext cx="5853732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25"/>
              </a:lnSpc>
            </a:pPr>
            <a:r>
              <a:rPr lang="en-US" sz="10125" b="true">
                <a:solidFill>
                  <a:srgbClr val="262262"/>
                </a:solidFill>
                <a:latin typeface="Oswald Bold"/>
                <a:ea typeface="Oswald Bold"/>
                <a:cs typeface="Oswald Bold"/>
                <a:sym typeface="Oswald Bold"/>
              </a:rPr>
              <a:t>Проблема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09661" y="4537119"/>
            <a:ext cx="11390719" cy="60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Юристы тратят часы на чтение документов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09661" y="6490964"/>
            <a:ext cx="8865060" cy="60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Высокий риск пропустить критичные детали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51824" y="4738830"/>
            <a:ext cx="781679" cy="50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b="true">
                <a:solidFill>
                  <a:srgbClr val="262262"/>
                </a:solidFill>
                <a:latin typeface="Oswald Bold"/>
                <a:ea typeface="Oswald Bold"/>
                <a:cs typeface="Oswald Bold"/>
                <a:sym typeface="Oswald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51824" y="5724649"/>
            <a:ext cx="781679" cy="50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b="true">
                <a:solidFill>
                  <a:srgbClr val="262262"/>
                </a:solidFill>
                <a:latin typeface="Oswald Bold"/>
                <a:ea typeface="Oswald Bold"/>
                <a:cs typeface="Oswald Bold"/>
                <a:sym typeface="Oswald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51824" y="6709600"/>
            <a:ext cx="781679" cy="50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b="true">
                <a:solidFill>
                  <a:srgbClr val="262262"/>
                </a:solidFill>
                <a:latin typeface="Oswald Bold"/>
                <a:ea typeface="Oswald Bold"/>
                <a:cs typeface="Oswald Bold"/>
                <a:sym typeface="Oswald Bold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51824" y="7799346"/>
            <a:ext cx="781679" cy="50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b="true">
                <a:solidFill>
                  <a:srgbClr val="262262"/>
                </a:solidFill>
                <a:latin typeface="Oswald Bold"/>
                <a:ea typeface="Oswald Bold"/>
                <a:cs typeface="Oswald Bold"/>
                <a:sym typeface="Oswald Bold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09661" y="7319524"/>
            <a:ext cx="8359892" cy="1131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Конфиденциальность мешает использовать облачные AI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09661" y="5506021"/>
            <a:ext cx="11390719" cy="60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Поиск по Ctrl+F не работает по смыслу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6665" y="1028700"/>
            <a:ext cx="8297885" cy="8229600"/>
            <a:chOff x="0" y="0"/>
            <a:chExt cx="11063846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3859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1063859">
                  <a:moveTo>
                    <a:pt x="8950579" y="0"/>
                  </a:moveTo>
                  <a:lnTo>
                    <a:pt x="0" y="0"/>
                  </a:lnTo>
                  <a:lnTo>
                    <a:pt x="2113153" y="10972800"/>
                  </a:lnTo>
                  <a:lnTo>
                    <a:pt x="11063859" y="10972800"/>
                  </a:lnTo>
                  <a:lnTo>
                    <a:pt x="8950579" y="0"/>
                  </a:lnTo>
                  <a:close/>
                </a:path>
              </a:pathLst>
            </a:custGeom>
            <a:blipFill>
              <a:blip r:embed="rId2"/>
              <a:stretch>
                <a:fillRect l="-35437" t="0" r="-35437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true" rot="0">
            <a:off x="2286000" y="0"/>
            <a:ext cx="4562780" cy="4114800"/>
          </a:xfrm>
          <a:custGeom>
            <a:avLst/>
            <a:gdLst/>
            <a:ahLst/>
            <a:cxnLst/>
            <a:rect r="r" b="b" t="t" l="l"/>
            <a:pathLst>
              <a:path h="4114800" w="4562780">
                <a:moveTo>
                  <a:pt x="0" y="4114800"/>
                </a:moveTo>
                <a:lnTo>
                  <a:pt x="4562780" y="4114800"/>
                </a:lnTo>
                <a:lnTo>
                  <a:pt x="456278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" t="0" r="-101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723995" y="1880454"/>
            <a:ext cx="5695207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25"/>
              </a:lnSpc>
            </a:pPr>
            <a:r>
              <a:rPr lang="en-US" sz="10125" b="true">
                <a:solidFill>
                  <a:srgbClr val="262262"/>
                </a:solidFill>
                <a:latin typeface="Oswald Bold"/>
                <a:ea typeface="Oswald Bold"/>
                <a:cs typeface="Oswald Bold"/>
                <a:sym typeface="Oswald Bold"/>
              </a:rPr>
              <a:t>Решение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05058" y="4295042"/>
            <a:ext cx="8149552" cy="282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764" indent="-244921" lvl="2">
              <a:lnSpc>
                <a:spcPts val="4500"/>
              </a:lnSpc>
              <a:buFont typeface="Arial"/>
              <a:buChar char="⚬"/>
            </a:pPr>
            <a:r>
              <a:rPr lang="en-US" sz="321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Телеграм-бот для работы с делами</a:t>
            </a:r>
          </a:p>
          <a:p>
            <a:pPr algn="l" marL="734764" indent="-244921" lvl="2">
              <a:lnSpc>
                <a:spcPts val="4500"/>
              </a:lnSpc>
              <a:buFont typeface="Arial"/>
              <a:buChar char="⚬"/>
            </a:pPr>
            <a:r>
              <a:rPr lang="en-US" sz="321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Загрузка документов формата PDF/DOCX/TXT</a:t>
            </a:r>
          </a:p>
          <a:p>
            <a:pPr algn="l" marL="734764" indent="-244921" lvl="2">
              <a:lnSpc>
                <a:spcPts val="4500"/>
              </a:lnSpc>
              <a:buFont typeface="Arial"/>
              <a:buChar char="⚬"/>
            </a:pPr>
            <a:r>
              <a:rPr lang="en-US" sz="321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Семантический поиск + LLM</a:t>
            </a:r>
          </a:p>
          <a:p>
            <a:pPr algn="l" marL="734764" indent="-244921" lvl="2">
              <a:lnSpc>
                <a:spcPts val="4500"/>
              </a:lnSpc>
              <a:buFont typeface="Arial"/>
              <a:buChar char="⚬"/>
            </a:pPr>
            <a:r>
              <a:rPr lang="en-US" sz="321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Ответы: стратегия, риски, позиции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007270" y="9113634"/>
            <a:ext cx="15016582" cy="1619860"/>
          </a:xfrm>
          <a:custGeom>
            <a:avLst/>
            <a:gdLst/>
            <a:ahLst/>
            <a:cxnLst/>
            <a:rect r="r" b="b" t="t" l="l"/>
            <a:pathLst>
              <a:path h="1619860" w="15016582">
                <a:moveTo>
                  <a:pt x="0" y="0"/>
                </a:moveTo>
                <a:lnTo>
                  <a:pt x="15016582" y="0"/>
                </a:lnTo>
                <a:lnTo>
                  <a:pt x="15016582" y="1619860"/>
                </a:lnTo>
                <a:lnTo>
                  <a:pt x="0" y="16198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1895153" y="8118948"/>
            <a:ext cx="4240797" cy="3338655"/>
          </a:xfrm>
          <a:custGeom>
            <a:avLst/>
            <a:gdLst/>
            <a:ahLst/>
            <a:cxnLst/>
            <a:rect r="r" b="b" t="t" l="l"/>
            <a:pathLst>
              <a:path h="3338655" w="4240797">
                <a:moveTo>
                  <a:pt x="4240797" y="3338655"/>
                </a:moveTo>
                <a:lnTo>
                  <a:pt x="0" y="3338655"/>
                </a:lnTo>
                <a:lnTo>
                  <a:pt x="0" y="0"/>
                </a:lnTo>
                <a:lnTo>
                  <a:pt x="4240797" y="0"/>
                </a:lnTo>
                <a:lnTo>
                  <a:pt x="4240797" y="3338655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409" r="0" b="-409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9867" y="1050722"/>
            <a:ext cx="7308256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25"/>
              </a:lnSpc>
            </a:pPr>
            <a:r>
              <a:rPr lang="en-US" sz="10125" b="true">
                <a:solidFill>
                  <a:srgbClr val="262262"/>
                </a:solidFill>
                <a:latin typeface="Oswald Bold"/>
                <a:ea typeface="Oswald Bold"/>
                <a:cs typeface="Oswald Bold"/>
                <a:sym typeface="Oswald Bold"/>
              </a:rPr>
              <a:t>Как работает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927474" y="669722"/>
            <a:ext cx="5736088" cy="5736088"/>
          </a:xfrm>
          <a:custGeom>
            <a:avLst/>
            <a:gdLst/>
            <a:ahLst/>
            <a:cxnLst/>
            <a:rect r="r" b="b" t="t" l="l"/>
            <a:pathLst>
              <a:path h="5736088" w="5736088">
                <a:moveTo>
                  <a:pt x="0" y="0"/>
                </a:moveTo>
                <a:lnTo>
                  <a:pt x="5736088" y="0"/>
                </a:lnTo>
                <a:lnTo>
                  <a:pt x="5736088" y="5736088"/>
                </a:lnTo>
                <a:lnTo>
                  <a:pt x="0" y="5736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496781" y="0"/>
            <a:ext cx="3505219" cy="2982620"/>
          </a:xfrm>
          <a:custGeom>
            <a:avLst/>
            <a:gdLst/>
            <a:ahLst/>
            <a:cxnLst/>
            <a:rect r="r" b="b" t="t" l="l"/>
            <a:pathLst>
              <a:path h="2982620" w="3505219">
                <a:moveTo>
                  <a:pt x="3505219" y="2982620"/>
                </a:moveTo>
                <a:lnTo>
                  <a:pt x="0" y="2982620"/>
                </a:lnTo>
                <a:lnTo>
                  <a:pt x="0" y="0"/>
                </a:lnTo>
                <a:lnTo>
                  <a:pt x="3505219" y="0"/>
                </a:lnTo>
                <a:lnTo>
                  <a:pt x="3505219" y="298262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" r="0" b="-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65945" y="2571750"/>
            <a:ext cx="5736088" cy="5736088"/>
          </a:xfrm>
          <a:custGeom>
            <a:avLst/>
            <a:gdLst/>
            <a:ahLst/>
            <a:cxnLst/>
            <a:rect r="r" b="b" t="t" l="l"/>
            <a:pathLst>
              <a:path h="5736088" w="5736088">
                <a:moveTo>
                  <a:pt x="0" y="0"/>
                </a:moveTo>
                <a:lnTo>
                  <a:pt x="5736089" y="0"/>
                </a:lnTo>
                <a:lnTo>
                  <a:pt x="5736089" y="5736088"/>
                </a:lnTo>
                <a:lnTo>
                  <a:pt x="0" y="5736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57882" y="7058092"/>
            <a:ext cx="2536165" cy="3228908"/>
          </a:xfrm>
          <a:custGeom>
            <a:avLst/>
            <a:gdLst/>
            <a:ahLst/>
            <a:cxnLst/>
            <a:rect r="r" b="b" t="t" l="l"/>
            <a:pathLst>
              <a:path h="3228908" w="2536165">
                <a:moveTo>
                  <a:pt x="0" y="0"/>
                </a:moveTo>
                <a:lnTo>
                  <a:pt x="2536165" y="0"/>
                </a:lnTo>
                <a:lnTo>
                  <a:pt x="2536165" y="3228908"/>
                </a:lnTo>
                <a:lnTo>
                  <a:pt x="0" y="32289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57" r="0" b="-15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596996" y="4004024"/>
            <a:ext cx="1088174" cy="1050579"/>
          </a:xfrm>
          <a:custGeom>
            <a:avLst/>
            <a:gdLst/>
            <a:ahLst/>
            <a:cxnLst/>
            <a:rect r="r" b="b" t="t" l="l"/>
            <a:pathLst>
              <a:path h="1050579" w="1088174">
                <a:moveTo>
                  <a:pt x="0" y="0"/>
                </a:moveTo>
                <a:lnTo>
                  <a:pt x="1088174" y="0"/>
                </a:lnTo>
                <a:lnTo>
                  <a:pt x="1088174" y="1050579"/>
                </a:lnTo>
                <a:lnTo>
                  <a:pt x="0" y="10505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2" t="0" r="-12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794111" y="3972373"/>
            <a:ext cx="961682" cy="961682"/>
          </a:xfrm>
          <a:custGeom>
            <a:avLst/>
            <a:gdLst/>
            <a:ahLst/>
            <a:cxnLst/>
            <a:rect r="r" b="b" t="t" l="l"/>
            <a:pathLst>
              <a:path h="961682" w="961682">
                <a:moveTo>
                  <a:pt x="0" y="0"/>
                </a:moveTo>
                <a:lnTo>
                  <a:pt x="961682" y="0"/>
                </a:lnTo>
                <a:lnTo>
                  <a:pt x="961682" y="961682"/>
                </a:lnTo>
                <a:lnTo>
                  <a:pt x="0" y="9616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314700" y="1028700"/>
            <a:ext cx="1050026" cy="1565081"/>
          </a:xfrm>
          <a:custGeom>
            <a:avLst/>
            <a:gdLst/>
            <a:ahLst/>
            <a:cxnLst/>
            <a:rect r="r" b="b" t="t" l="l"/>
            <a:pathLst>
              <a:path h="1565081" w="1050026">
                <a:moveTo>
                  <a:pt x="0" y="0"/>
                </a:moveTo>
                <a:lnTo>
                  <a:pt x="1050026" y="0"/>
                </a:lnTo>
                <a:lnTo>
                  <a:pt x="1050026" y="1565081"/>
                </a:lnTo>
                <a:lnTo>
                  <a:pt x="0" y="15650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35" t="0" r="-136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159923" y="6797069"/>
            <a:ext cx="1684153" cy="2510257"/>
          </a:xfrm>
          <a:custGeom>
            <a:avLst/>
            <a:gdLst/>
            <a:ahLst/>
            <a:cxnLst/>
            <a:rect r="r" b="b" t="t" l="l"/>
            <a:pathLst>
              <a:path h="2510257" w="1684153">
                <a:moveTo>
                  <a:pt x="0" y="0"/>
                </a:moveTo>
                <a:lnTo>
                  <a:pt x="1684154" y="0"/>
                </a:lnTo>
                <a:lnTo>
                  <a:pt x="1684154" y="2510256"/>
                </a:lnTo>
                <a:lnTo>
                  <a:pt x="0" y="25102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248" t="0" r="-248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596996" y="6886556"/>
            <a:ext cx="1088174" cy="1088174"/>
          </a:xfrm>
          <a:custGeom>
            <a:avLst/>
            <a:gdLst/>
            <a:ahLst/>
            <a:cxnLst/>
            <a:rect r="r" b="b" t="t" l="l"/>
            <a:pathLst>
              <a:path h="1088174" w="1088174">
                <a:moveTo>
                  <a:pt x="0" y="0"/>
                </a:moveTo>
                <a:lnTo>
                  <a:pt x="1088174" y="0"/>
                </a:lnTo>
                <a:lnTo>
                  <a:pt x="1088174" y="1088174"/>
                </a:lnTo>
                <a:lnTo>
                  <a:pt x="0" y="108817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794111" y="6847827"/>
            <a:ext cx="1185024" cy="1165631"/>
          </a:xfrm>
          <a:custGeom>
            <a:avLst/>
            <a:gdLst/>
            <a:ahLst/>
            <a:cxnLst/>
            <a:rect r="r" b="b" t="t" l="l"/>
            <a:pathLst>
              <a:path h="1165631" w="1185024">
                <a:moveTo>
                  <a:pt x="0" y="0"/>
                </a:moveTo>
                <a:lnTo>
                  <a:pt x="1185024" y="0"/>
                </a:lnTo>
                <a:lnTo>
                  <a:pt x="1185024" y="1165632"/>
                </a:lnTo>
                <a:lnTo>
                  <a:pt x="0" y="116563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18" r="0" b="-18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231178" y="5231416"/>
            <a:ext cx="3564769" cy="595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6"/>
              </a:lnSpc>
            </a:pPr>
            <a:r>
              <a:rPr lang="en-US" sz="28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Создание дела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78980" y="7969044"/>
            <a:ext cx="3564769" cy="158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6"/>
              </a:lnSpc>
            </a:pPr>
            <a:r>
              <a:rPr lang="en-US" sz="28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Индексация (эмбеддинги + векторная база)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92063" y="5195697"/>
            <a:ext cx="3847500" cy="109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6"/>
              </a:lnSpc>
            </a:pPr>
            <a:r>
              <a:rPr lang="en-US" sz="28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Загрузка доукументов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92063" y="7969044"/>
            <a:ext cx="3564769" cy="109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6"/>
              </a:lnSpc>
            </a:pPr>
            <a:r>
              <a:rPr lang="en-US" sz="28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Вопрос → поиск → ответ LLM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88004" y="8759800"/>
            <a:ext cx="8564385" cy="1217438"/>
          </a:xfrm>
          <a:custGeom>
            <a:avLst/>
            <a:gdLst/>
            <a:ahLst/>
            <a:cxnLst/>
            <a:rect r="r" b="b" t="t" l="l"/>
            <a:pathLst>
              <a:path h="1217438" w="8564385">
                <a:moveTo>
                  <a:pt x="0" y="0"/>
                </a:moveTo>
                <a:lnTo>
                  <a:pt x="8564385" y="0"/>
                </a:lnTo>
                <a:lnTo>
                  <a:pt x="8564385" y="1217437"/>
                </a:lnTo>
                <a:lnTo>
                  <a:pt x="0" y="1217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86900" y="8904456"/>
            <a:ext cx="5486400" cy="1246908"/>
          </a:xfrm>
          <a:custGeom>
            <a:avLst/>
            <a:gdLst/>
            <a:ahLst/>
            <a:cxnLst/>
            <a:rect r="r" b="b" t="t" l="l"/>
            <a:pathLst>
              <a:path h="1246908" w="5486400">
                <a:moveTo>
                  <a:pt x="0" y="0"/>
                </a:moveTo>
                <a:lnTo>
                  <a:pt x="5486400" y="0"/>
                </a:lnTo>
                <a:lnTo>
                  <a:pt x="5486400" y="1246908"/>
                </a:lnTo>
                <a:lnTo>
                  <a:pt x="0" y="12469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16" r="0" b="-41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03841" y="5991692"/>
            <a:ext cx="1662913" cy="1854603"/>
          </a:xfrm>
          <a:custGeom>
            <a:avLst/>
            <a:gdLst/>
            <a:ahLst/>
            <a:cxnLst/>
            <a:rect r="r" b="b" t="t" l="l"/>
            <a:pathLst>
              <a:path h="1854603" w="1662913">
                <a:moveTo>
                  <a:pt x="0" y="0"/>
                </a:moveTo>
                <a:lnTo>
                  <a:pt x="1662913" y="0"/>
                </a:lnTo>
                <a:lnTo>
                  <a:pt x="1662913" y="1854603"/>
                </a:lnTo>
                <a:lnTo>
                  <a:pt x="0" y="18546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5991692"/>
            <a:ext cx="1662913" cy="1854603"/>
          </a:xfrm>
          <a:custGeom>
            <a:avLst/>
            <a:gdLst/>
            <a:ahLst/>
            <a:cxnLst/>
            <a:rect r="r" b="b" t="t" l="l"/>
            <a:pathLst>
              <a:path h="1854603" w="1662913">
                <a:moveTo>
                  <a:pt x="0" y="0"/>
                </a:moveTo>
                <a:lnTo>
                  <a:pt x="1662913" y="0"/>
                </a:lnTo>
                <a:lnTo>
                  <a:pt x="1662913" y="1854603"/>
                </a:lnTo>
                <a:lnTo>
                  <a:pt x="0" y="18546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94377" y="1234288"/>
            <a:ext cx="8299237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25"/>
              </a:lnSpc>
            </a:pPr>
            <a:r>
              <a:rPr lang="en-US" sz="10125" b="true">
                <a:solidFill>
                  <a:srgbClr val="262262"/>
                </a:solidFill>
                <a:latin typeface="Oswald Bold"/>
                <a:ea typeface="Oswald Bold"/>
                <a:cs typeface="Oswald Bold"/>
                <a:sym typeface="Oswald Bold"/>
              </a:rPr>
              <a:t>Продукт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603841" y="4106666"/>
            <a:ext cx="1662913" cy="1854603"/>
          </a:xfrm>
          <a:custGeom>
            <a:avLst/>
            <a:gdLst/>
            <a:ahLst/>
            <a:cxnLst/>
            <a:rect r="r" b="b" t="t" l="l"/>
            <a:pathLst>
              <a:path h="1854603" w="1662913">
                <a:moveTo>
                  <a:pt x="0" y="0"/>
                </a:moveTo>
                <a:lnTo>
                  <a:pt x="1662913" y="0"/>
                </a:lnTo>
                <a:lnTo>
                  <a:pt x="1662913" y="1854603"/>
                </a:lnTo>
                <a:lnTo>
                  <a:pt x="0" y="18546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973354" y="4612005"/>
            <a:ext cx="936107" cy="960558"/>
          </a:xfrm>
          <a:custGeom>
            <a:avLst/>
            <a:gdLst/>
            <a:ahLst/>
            <a:cxnLst/>
            <a:rect r="r" b="b" t="t" l="l"/>
            <a:pathLst>
              <a:path h="960558" w="936107">
                <a:moveTo>
                  <a:pt x="0" y="0"/>
                </a:moveTo>
                <a:lnTo>
                  <a:pt x="936107" y="0"/>
                </a:lnTo>
                <a:lnTo>
                  <a:pt x="936107" y="960558"/>
                </a:lnTo>
                <a:lnTo>
                  <a:pt x="0" y="9605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89" t="0" r="-289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973354" y="6459960"/>
            <a:ext cx="801033" cy="1109748"/>
          </a:xfrm>
          <a:custGeom>
            <a:avLst/>
            <a:gdLst/>
            <a:ahLst/>
            <a:cxnLst/>
            <a:rect r="r" b="b" t="t" l="l"/>
            <a:pathLst>
              <a:path h="1109748" w="801033">
                <a:moveTo>
                  <a:pt x="0" y="0"/>
                </a:moveTo>
                <a:lnTo>
                  <a:pt x="801033" y="0"/>
                </a:lnTo>
                <a:lnTo>
                  <a:pt x="801033" y="1109748"/>
                </a:lnTo>
                <a:lnTo>
                  <a:pt x="0" y="11097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23" t="0" r="-324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4106666"/>
            <a:ext cx="1662913" cy="1854603"/>
          </a:xfrm>
          <a:custGeom>
            <a:avLst/>
            <a:gdLst/>
            <a:ahLst/>
            <a:cxnLst/>
            <a:rect r="r" b="b" t="t" l="l"/>
            <a:pathLst>
              <a:path h="1854603" w="1662913">
                <a:moveTo>
                  <a:pt x="0" y="0"/>
                </a:moveTo>
                <a:lnTo>
                  <a:pt x="1662913" y="0"/>
                </a:lnTo>
                <a:lnTo>
                  <a:pt x="1662913" y="1854603"/>
                </a:lnTo>
                <a:lnTo>
                  <a:pt x="0" y="18546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531487" y="4687062"/>
            <a:ext cx="887940" cy="885501"/>
          </a:xfrm>
          <a:custGeom>
            <a:avLst/>
            <a:gdLst/>
            <a:ahLst/>
            <a:cxnLst/>
            <a:rect r="r" b="b" t="t" l="l"/>
            <a:pathLst>
              <a:path h="885501" w="887940">
                <a:moveTo>
                  <a:pt x="0" y="0"/>
                </a:moveTo>
                <a:lnTo>
                  <a:pt x="887939" y="0"/>
                </a:lnTo>
                <a:lnTo>
                  <a:pt x="887939" y="885501"/>
                </a:lnTo>
                <a:lnTo>
                  <a:pt x="0" y="8855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399" t="0" r="-399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249653" y="-473812"/>
            <a:ext cx="3017101" cy="2375278"/>
          </a:xfrm>
          <a:custGeom>
            <a:avLst/>
            <a:gdLst/>
            <a:ahLst/>
            <a:cxnLst/>
            <a:rect r="r" b="b" t="t" l="l"/>
            <a:pathLst>
              <a:path h="2375278" w="3017101">
                <a:moveTo>
                  <a:pt x="0" y="0"/>
                </a:moveTo>
                <a:lnTo>
                  <a:pt x="3017101" y="0"/>
                </a:lnTo>
                <a:lnTo>
                  <a:pt x="3017101" y="2375278"/>
                </a:lnTo>
                <a:lnTo>
                  <a:pt x="0" y="23752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487" r="0" b="-488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420577" y="6459960"/>
            <a:ext cx="1109748" cy="1109748"/>
          </a:xfrm>
          <a:custGeom>
            <a:avLst/>
            <a:gdLst/>
            <a:ahLst/>
            <a:cxnLst/>
            <a:rect r="r" b="b" t="t" l="l"/>
            <a:pathLst>
              <a:path h="1109748" w="1109748">
                <a:moveTo>
                  <a:pt x="0" y="0"/>
                </a:moveTo>
                <a:lnTo>
                  <a:pt x="1109749" y="0"/>
                </a:lnTo>
                <a:lnTo>
                  <a:pt x="1109749" y="1109748"/>
                </a:lnTo>
                <a:lnTo>
                  <a:pt x="0" y="110974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564000" y="6412497"/>
            <a:ext cx="3089434" cy="91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sz="210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Структурированные ответы</a:t>
            </a:r>
          </a:p>
          <a:p>
            <a:pPr algn="l">
              <a:lnSpc>
                <a:spcPts val="231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5564000" y="4355382"/>
            <a:ext cx="3344951" cy="810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10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Работа по делам (case-based)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01588" y="6374397"/>
            <a:ext cx="2869625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10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API + интеграции (n8n)</a:t>
            </a:r>
          </a:p>
          <a:p>
            <a:pPr algn="l">
              <a:lnSpc>
                <a:spcPts val="2531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1101588" y="4542796"/>
            <a:ext cx="3184769" cy="810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10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Локальная LLM (без утечки данных)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84208" y="4178589"/>
            <a:ext cx="4533290" cy="2425789"/>
            <a:chOff x="0" y="0"/>
            <a:chExt cx="6044387" cy="32343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44311" cy="3234436"/>
            </a:xfrm>
            <a:custGeom>
              <a:avLst/>
              <a:gdLst/>
              <a:ahLst/>
              <a:cxnLst/>
              <a:rect r="r" b="b" t="t" l="l"/>
              <a:pathLst>
                <a:path h="3234436" w="6044311">
                  <a:moveTo>
                    <a:pt x="0" y="0"/>
                  </a:moveTo>
                  <a:lnTo>
                    <a:pt x="4914138" y="0"/>
                  </a:lnTo>
                  <a:lnTo>
                    <a:pt x="6044311" y="1617218"/>
                  </a:lnTo>
                  <a:lnTo>
                    <a:pt x="4914138" y="3234436"/>
                  </a:lnTo>
                  <a:lnTo>
                    <a:pt x="0" y="3234436"/>
                  </a:lnTo>
                  <a:lnTo>
                    <a:pt x="1130173" y="1617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2179" r="-1" b="-12178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584315" y="6912073"/>
            <a:ext cx="3293040" cy="726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минус 50–80% времени на анализ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875625" y="9069562"/>
            <a:ext cx="13097675" cy="1643529"/>
          </a:xfrm>
          <a:custGeom>
            <a:avLst/>
            <a:gdLst/>
            <a:ahLst/>
            <a:cxnLst/>
            <a:rect r="r" b="b" t="t" l="l"/>
            <a:pathLst>
              <a:path h="1643529" w="13097675">
                <a:moveTo>
                  <a:pt x="0" y="0"/>
                </a:moveTo>
                <a:lnTo>
                  <a:pt x="13097675" y="0"/>
                </a:lnTo>
                <a:lnTo>
                  <a:pt x="13097675" y="1643529"/>
                </a:lnTo>
                <a:lnTo>
                  <a:pt x="0" y="1643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88732" y="7528389"/>
            <a:ext cx="3711111" cy="2921651"/>
          </a:xfrm>
          <a:custGeom>
            <a:avLst/>
            <a:gdLst/>
            <a:ahLst/>
            <a:cxnLst/>
            <a:rect r="r" b="b" t="t" l="l"/>
            <a:pathLst>
              <a:path h="2921651" w="3711111">
                <a:moveTo>
                  <a:pt x="3711111" y="2921650"/>
                </a:moveTo>
                <a:lnTo>
                  <a:pt x="0" y="2921650"/>
                </a:lnTo>
                <a:lnTo>
                  <a:pt x="0" y="0"/>
                </a:lnTo>
                <a:lnTo>
                  <a:pt x="3711111" y="0"/>
                </a:lnTo>
                <a:lnTo>
                  <a:pt x="3711111" y="292165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82" r="0" b="-482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877355" y="4178589"/>
            <a:ext cx="4533290" cy="2425789"/>
            <a:chOff x="0" y="0"/>
            <a:chExt cx="6044387" cy="32343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44311" cy="3234436"/>
            </a:xfrm>
            <a:custGeom>
              <a:avLst/>
              <a:gdLst/>
              <a:ahLst/>
              <a:cxnLst/>
              <a:rect r="r" b="b" t="t" l="l"/>
              <a:pathLst>
                <a:path h="3234436" w="6044311">
                  <a:moveTo>
                    <a:pt x="0" y="0"/>
                  </a:moveTo>
                  <a:lnTo>
                    <a:pt x="4914138" y="0"/>
                  </a:lnTo>
                  <a:lnTo>
                    <a:pt x="6044311" y="1617218"/>
                  </a:lnTo>
                  <a:lnTo>
                    <a:pt x="4914138" y="3234436"/>
                  </a:lnTo>
                  <a:lnTo>
                    <a:pt x="0" y="3234436"/>
                  </a:lnTo>
                  <a:lnTo>
                    <a:pt x="1130173" y="1617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2179" r="-1" b="-1217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440010" y="4178589"/>
            <a:ext cx="4533290" cy="2425789"/>
            <a:chOff x="0" y="0"/>
            <a:chExt cx="6044387" cy="32343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44311" cy="3234436"/>
            </a:xfrm>
            <a:custGeom>
              <a:avLst/>
              <a:gdLst/>
              <a:ahLst/>
              <a:cxnLst/>
              <a:rect r="r" b="b" t="t" l="l"/>
              <a:pathLst>
                <a:path h="3234436" w="6044311">
                  <a:moveTo>
                    <a:pt x="0" y="0"/>
                  </a:moveTo>
                  <a:lnTo>
                    <a:pt x="4914138" y="0"/>
                  </a:lnTo>
                  <a:lnTo>
                    <a:pt x="6044311" y="1617218"/>
                  </a:lnTo>
                  <a:lnTo>
                    <a:pt x="4914138" y="3234436"/>
                  </a:lnTo>
                  <a:lnTo>
                    <a:pt x="0" y="3234436"/>
                  </a:lnTo>
                  <a:lnTo>
                    <a:pt x="1130173" y="1617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569" r="-1" b="-2567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-1765945" y="2571750"/>
            <a:ext cx="5736088" cy="5736088"/>
          </a:xfrm>
          <a:custGeom>
            <a:avLst/>
            <a:gdLst/>
            <a:ahLst/>
            <a:cxnLst/>
            <a:rect r="r" b="b" t="t" l="l"/>
            <a:pathLst>
              <a:path h="5736088" w="5736088">
                <a:moveTo>
                  <a:pt x="0" y="0"/>
                </a:moveTo>
                <a:lnTo>
                  <a:pt x="5736089" y="0"/>
                </a:lnTo>
                <a:lnTo>
                  <a:pt x="5736089" y="5736088"/>
                </a:lnTo>
                <a:lnTo>
                  <a:pt x="0" y="57360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20628" y="-472573"/>
            <a:ext cx="5736088" cy="5736088"/>
          </a:xfrm>
          <a:custGeom>
            <a:avLst/>
            <a:gdLst/>
            <a:ahLst/>
            <a:cxnLst/>
            <a:rect r="r" b="b" t="t" l="l"/>
            <a:pathLst>
              <a:path h="5736088" w="5736088">
                <a:moveTo>
                  <a:pt x="0" y="0"/>
                </a:moveTo>
                <a:lnTo>
                  <a:pt x="5736088" y="0"/>
                </a:lnTo>
                <a:lnTo>
                  <a:pt x="5736088" y="5736088"/>
                </a:lnTo>
                <a:lnTo>
                  <a:pt x="0" y="57360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286000" y="0"/>
            <a:ext cx="2174472" cy="1711900"/>
          </a:xfrm>
          <a:custGeom>
            <a:avLst/>
            <a:gdLst/>
            <a:ahLst/>
            <a:cxnLst/>
            <a:rect r="r" b="b" t="t" l="l"/>
            <a:pathLst>
              <a:path h="1711900" w="2174472">
                <a:moveTo>
                  <a:pt x="0" y="0"/>
                </a:moveTo>
                <a:lnTo>
                  <a:pt x="2174472" y="0"/>
                </a:lnTo>
                <a:lnTo>
                  <a:pt x="2174472" y="1711900"/>
                </a:lnTo>
                <a:lnTo>
                  <a:pt x="0" y="1711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75" r="0" b="-475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208469" y="2073850"/>
            <a:ext cx="9871053" cy="1005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8"/>
              </a:lnSpc>
            </a:pPr>
            <a:r>
              <a:rPr lang="en-US" sz="8998" b="true">
                <a:solidFill>
                  <a:srgbClr val="262262"/>
                </a:solidFill>
                <a:latin typeface="Oswald Bold"/>
                <a:ea typeface="Oswald Bold"/>
                <a:cs typeface="Oswald Bold"/>
                <a:sym typeface="Oswald Bold"/>
              </a:rPr>
              <a:t>Ценность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01519" y="6969262"/>
            <a:ext cx="3284972" cy="726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Быстрый доступ к знаниям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10645" y="6969262"/>
            <a:ext cx="3213268" cy="106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Безопасность данных</a:t>
            </a:r>
          </a:p>
          <a:p>
            <a:pPr algn="ctr">
              <a:lnSpc>
                <a:spcPts val="2700"/>
              </a:lnSpc>
            </a:pPr>
          </a:p>
          <a:p>
            <a:pPr algn="ctr">
              <a:lnSpc>
                <a:spcPts val="27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34724" y="5455815"/>
            <a:ext cx="7618552" cy="57150"/>
            <a:chOff x="0" y="0"/>
            <a:chExt cx="1015807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8100" y="0"/>
              <a:ext cx="10081895" cy="76200"/>
            </a:xfrm>
            <a:custGeom>
              <a:avLst/>
              <a:gdLst/>
              <a:ahLst/>
              <a:cxnLst/>
              <a:rect r="r" b="b" t="t" l="l"/>
              <a:pathLst>
                <a:path h="76200" w="10081895">
                  <a:moveTo>
                    <a:pt x="0" y="0"/>
                  </a:moveTo>
                  <a:lnTo>
                    <a:pt x="10081895" y="0"/>
                  </a:lnTo>
                  <a:lnTo>
                    <a:pt x="1008189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B75B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851824" y="4044210"/>
            <a:ext cx="2826791" cy="2826791"/>
            <a:chOff x="0" y="0"/>
            <a:chExt cx="3769055" cy="37690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69106" cy="3769106"/>
            </a:xfrm>
            <a:custGeom>
              <a:avLst/>
              <a:gdLst/>
              <a:ahLst/>
              <a:cxnLst/>
              <a:rect r="r" b="b" t="t" l="l"/>
              <a:pathLst>
                <a:path h="3769106" w="3769106">
                  <a:moveTo>
                    <a:pt x="0" y="0"/>
                  </a:moveTo>
                  <a:lnTo>
                    <a:pt x="3769106" y="0"/>
                  </a:lnTo>
                  <a:lnTo>
                    <a:pt x="3769106" y="3769106"/>
                  </a:lnTo>
                  <a:lnTo>
                    <a:pt x="0" y="3769106"/>
                  </a:lnTo>
                  <a:close/>
                </a:path>
              </a:pathLst>
            </a:custGeom>
            <a:blipFill>
              <a:blip r:embed="rId2"/>
              <a:stretch>
                <a:fillRect l="-33332" t="0" r="-33331" b="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656601" y="1194445"/>
            <a:ext cx="8779069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25"/>
              </a:lnSpc>
            </a:pPr>
            <a:r>
              <a:rPr lang="en-US" sz="10125" b="true">
                <a:solidFill>
                  <a:srgbClr val="262262"/>
                </a:solidFill>
                <a:latin typeface="Oswald Bold"/>
                <a:ea typeface="Oswald Bold"/>
                <a:cs typeface="Oswald Bold"/>
                <a:sym typeface="Oswald Bold"/>
              </a:rPr>
              <a:t>Целевая аудитория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730604" y="4044210"/>
            <a:ext cx="2826791" cy="2826791"/>
            <a:chOff x="0" y="0"/>
            <a:chExt cx="3769055" cy="37690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69106" cy="3769106"/>
            </a:xfrm>
            <a:custGeom>
              <a:avLst/>
              <a:gdLst/>
              <a:ahLst/>
              <a:cxnLst/>
              <a:rect r="r" b="b" t="t" l="l"/>
              <a:pathLst>
                <a:path h="3769106" w="3769106">
                  <a:moveTo>
                    <a:pt x="0" y="0"/>
                  </a:moveTo>
                  <a:lnTo>
                    <a:pt x="3769106" y="0"/>
                  </a:lnTo>
                  <a:lnTo>
                    <a:pt x="3769106" y="3769106"/>
                  </a:lnTo>
                  <a:lnTo>
                    <a:pt x="0" y="3769106"/>
                  </a:lnTo>
                  <a:close/>
                </a:path>
              </a:pathLst>
            </a:custGeom>
            <a:blipFill>
              <a:blip r:embed="rId3"/>
              <a:stretch>
                <a:fillRect l="-14393" t="0" r="-14392" b="1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609384" y="4044210"/>
            <a:ext cx="2826791" cy="2826791"/>
            <a:chOff x="0" y="0"/>
            <a:chExt cx="3769055" cy="37690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69106" cy="3769106"/>
            </a:xfrm>
            <a:custGeom>
              <a:avLst/>
              <a:gdLst/>
              <a:ahLst/>
              <a:cxnLst/>
              <a:rect r="r" b="b" t="t" l="l"/>
              <a:pathLst>
                <a:path h="3769106" w="3769106">
                  <a:moveTo>
                    <a:pt x="0" y="0"/>
                  </a:moveTo>
                  <a:lnTo>
                    <a:pt x="3769106" y="0"/>
                  </a:lnTo>
                  <a:lnTo>
                    <a:pt x="3769106" y="3769106"/>
                  </a:lnTo>
                  <a:lnTo>
                    <a:pt x="0" y="3769106"/>
                  </a:lnTo>
                  <a:close/>
                </a:path>
              </a:pathLst>
            </a:custGeom>
            <a:blipFill>
              <a:blip r:embed="rId4"/>
              <a:stretch>
                <a:fillRect l="-24999" t="0" r="-24998" b="1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true" rot="0">
            <a:off x="2286000" y="0"/>
            <a:ext cx="2667124" cy="3395643"/>
          </a:xfrm>
          <a:custGeom>
            <a:avLst/>
            <a:gdLst/>
            <a:ahLst/>
            <a:cxnLst/>
            <a:rect r="r" b="b" t="t" l="l"/>
            <a:pathLst>
              <a:path h="3395643" w="2667124">
                <a:moveTo>
                  <a:pt x="0" y="3395643"/>
                </a:moveTo>
                <a:lnTo>
                  <a:pt x="2667124" y="3395643"/>
                </a:lnTo>
                <a:lnTo>
                  <a:pt x="2667124" y="0"/>
                </a:lnTo>
                <a:lnTo>
                  <a:pt x="0" y="0"/>
                </a:lnTo>
                <a:lnTo>
                  <a:pt x="0" y="3395643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34" r="0" b="-34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35709" y="9995230"/>
            <a:ext cx="15016582" cy="1834172"/>
          </a:xfrm>
          <a:custGeom>
            <a:avLst/>
            <a:gdLst/>
            <a:ahLst/>
            <a:cxnLst/>
            <a:rect r="r" b="b" t="t" l="l"/>
            <a:pathLst>
              <a:path h="1834172" w="15016582">
                <a:moveTo>
                  <a:pt x="0" y="0"/>
                </a:moveTo>
                <a:lnTo>
                  <a:pt x="15016582" y="0"/>
                </a:lnTo>
                <a:lnTo>
                  <a:pt x="15016582" y="1834172"/>
                </a:lnTo>
                <a:lnTo>
                  <a:pt x="0" y="18341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3631399" y="7916399"/>
            <a:ext cx="2370601" cy="2370601"/>
          </a:xfrm>
          <a:custGeom>
            <a:avLst/>
            <a:gdLst/>
            <a:ahLst/>
            <a:cxnLst/>
            <a:rect r="r" b="b" t="t" l="l"/>
            <a:pathLst>
              <a:path h="2370601" w="2370601">
                <a:moveTo>
                  <a:pt x="2370601" y="0"/>
                </a:moveTo>
                <a:lnTo>
                  <a:pt x="0" y="0"/>
                </a:lnTo>
                <a:lnTo>
                  <a:pt x="0" y="2370601"/>
                </a:lnTo>
                <a:lnTo>
                  <a:pt x="2370601" y="2370601"/>
                </a:lnTo>
                <a:lnTo>
                  <a:pt x="2370601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784247" y="-1839344"/>
            <a:ext cx="5736088" cy="5736088"/>
          </a:xfrm>
          <a:custGeom>
            <a:avLst/>
            <a:gdLst/>
            <a:ahLst/>
            <a:cxnLst/>
            <a:rect r="r" b="b" t="t" l="l"/>
            <a:pathLst>
              <a:path h="5736088" w="5736088">
                <a:moveTo>
                  <a:pt x="0" y="0"/>
                </a:moveTo>
                <a:lnTo>
                  <a:pt x="5736088" y="0"/>
                </a:lnTo>
                <a:lnTo>
                  <a:pt x="5736088" y="5736088"/>
                </a:lnTo>
                <a:lnTo>
                  <a:pt x="0" y="57360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985498" y="7106983"/>
            <a:ext cx="275560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3375" b="tru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Юридические фирмы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30604" y="7106983"/>
            <a:ext cx="2826791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3375" b="tru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In-house юристы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09384" y="7109250"/>
            <a:ext cx="2826791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3375" b="tru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Консалтинг</a:t>
            </a:r>
          </a:p>
          <a:p>
            <a:pPr algn="ctr">
              <a:lnSpc>
                <a:spcPts val="3375"/>
              </a:lnSpc>
            </a:pPr>
          </a:p>
          <a:p>
            <a:pPr algn="ctr">
              <a:lnSpc>
                <a:spcPts val="3375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2628559" y="-490176"/>
            <a:ext cx="2910059" cy="3836832"/>
          </a:xfrm>
          <a:custGeom>
            <a:avLst/>
            <a:gdLst/>
            <a:ahLst/>
            <a:cxnLst/>
            <a:rect r="r" b="b" t="t" l="l"/>
            <a:pathLst>
              <a:path h="3836832" w="2910059">
                <a:moveTo>
                  <a:pt x="2910059" y="0"/>
                </a:moveTo>
                <a:lnTo>
                  <a:pt x="0" y="0"/>
                </a:lnTo>
                <a:lnTo>
                  <a:pt x="0" y="3836832"/>
                </a:lnTo>
                <a:lnTo>
                  <a:pt x="2910059" y="3836832"/>
                </a:lnTo>
                <a:lnTo>
                  <a:pt x="291005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19" t="0" r="-21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07270" y="6486620"/>
            <a:ext cx="15016582" cy="4246883"/>
          </a:xfrm>
          <a:custGeom>
            <a:avLst/>
            <a:gdLst/>
            <a:ahLst/>
            <a:cxnLst/>
            <a:rect r="r" b="b" t="t" l="l"/>
            <a:pathLst>
              <a:path h="4246883" w="15016582">
                <a:moveTo>
                  <a:pt x="0" y="0"/>
                </a:moveTo>
                <a:lnTo>
                  <a:pt x="15016582" y="0"/>
                </a:lnTo>
                <a:lnTo>
                  <a:pt x="15016582" y="4246883"/>
                </a:lnTo>
                <a:lnTo>
                  <a:pt x="0" y="42468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86000" y="4220032"/>
            <a:ext cx="12687300" cy="5038268"/>
          </a:xfrm>
          <a:custGeom>
            <a:avLst/>
            <a:gdLst/>
            <a:ahLst/>
            <a:cxnLst/>
            <a:rect r="r" b="b" t="t" l="l"/>
            <a:pathLst>
              <a:path h="5038268" w="12687300">
                <a:moveTo>
                  <a:pt x="0" y="0"/>
                </a:moveTo>
                <a:lnTo>
                  <a:pt x="12687300" y="0"/>
                </a:lnTo>
                <a:lnTo>
                  <a:pt x="12687300" y="5038268"/>
                </a:lnTo>
                <a:lnTo>
                  <a:pt x="0" y="50382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69881" y="1459563"/>
            <a:ext cx="11066955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25"/>
              </a:lnSpc>
            </a:pPr>
            <a:r>
              <a:rPr lang="en-US" sz="10125" b="true">
                <a:solidFill>
                  <a:srgbClr val="262262"/>
                </a:solidFill>
                <a:latin typeface="Oswald Bold"/>
                <a:ea typeface="Oswald Bold"/>
                <a:cs typeface="Oswald Bold"/>
                <a:sym typeface="Oswald Bold"/>
              </a:rPr>
              <a:t>Конкуренты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56700" y="4519717"/>
            <a:ext cx="2671372" cy="158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262262"/>
                </a:solidFill>
                <a:latin typeface="Canva Sans"/>
                <a:ea typeface="Canva Sans"/>
                <a:cs typeface="Canva Sans"/>
                <a:sym typeface="Canva Sans"/>
              </a:rPr>
              <a:t>Конкуренты:</a:t>
            </a:r>
          </a:p>
          <a:p>
            <a:pPr algn="l" marL="525780" indent="-175260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262262"/>
                </a:solidFill>
                <a:latin typeface="Canva Sans"/>
                <a:ea typeface="Canva Sans"/>
                <a:cs typeface="Canva Sans"/>
                <a:sym typeface="Canva Sans"/>
              </a:rPr>
              <a:t>Harvey</a:t>
            </a:r>
          </a:p>
          <a:p>
            <a:pPr algn="l" marL="525780" indent="-175260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262262"/>
                </a:solidFill>
                <a:latin typeface="Canva Sans"/>
                <a:ea typeface="Canva Sans"/>
                <a:cs typeface="Canva Sans"/>
                <a:sym typeface="Canva Sans"/>
              </a:rPr>
              <a:t>Hebbia</a:t>
            </a:r>
          </a:p>
          <a:p>
            <a:pPr algn="l" marL="525780" indent="-175260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262262"/>
                </a:solidFill>
                <a:latin typeface="Canva Sans"/>
                <a:ea typeface="Canva Sans"/>
                <a:cs typeface="Canva Sans"/>
                <a:sym typeface="Canva Sans"/>
              </a:rPr>
              <a:t>Westlaw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88778" y="4575533"/>
            <a:ext cx="8184522" cy="398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262262"/>
                </a:solidFill>
                <a:latin typeface="Canva Sans"/>
                <a:ea typeface="Canva Sans"/>
                <a:cs typeface="Canva Sans"/>
                <a:sym typeface="Canva Sans"/>
              </a:rPr>
              <a:t>Наши ключевые отличия: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262262"/>
                </a:solidFill>
                <a:latin typeface="Canva Sans"/>
                <a:ea typeface="Canva Sans"/>
                <a:cs typeface="Canva Sans"/>
                <a:sym typeface="Canva Sans"/>
              </a:rPr>
              <a:t>Л</a:t>
            </a:r>
            <a:r>
              <a:rPr lang="en-US" sz="2300">
                <a:solidFill>
                  <a:srgbClr val="262262"/>
                </a:solidFill>
                <a:latin typeface="Canva Sans"/>
                <a:ea typeface="Canva Sans"/>
                <a:cs typeface="Canva Sans"/>
                <a:sym typeface="Canva Sans"/>
              </a:rPr>
              <a:t>окальная модель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262262"/>
                </a:solidFill>
                <a:latin typeface="Canva Sans"/>
                <a:ea typeface="Canva Sans"/>
                <a:cs typeface="Canva Sans"/>
                <a:sym typeface="Canva Sans"/>
              </a:rPr>
              <a:t>Работа с внутренними документами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262262"/>
                </a:solidFill>
                <a:latin typeface="Canva Sans"/>
                <a:ea typeface="Canva Sans"/>
                <a:cs typeface="Canva Sans"/>
                <a:sym typeface="Canva Sans"/>
              </a:rPr>
              <a:t>Простота внедрения (интеграция через API без сложной инфраструктуры)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262262"/>
                </a:solidFill>
                <a:latin typeface="Canva Sans"/>
                <a:ea typeface="Canva Sans"/>
                <a:cs typeface="Canva Sans"/>
                <a:sym typeface="Canva Sans"/>
              </a:rPr>
              <a:t>Гибкость архитектуры (возможность замены моделей на более мощные)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262262"/>
                </a:solidFill>
                <a:latin typeface="Canva Sans"/>
                <a:ea typeface="Canva Sans"/>
                <a:cs typeface="Canva Sans"/>
                <a:sym typeface="Canva Sans"/>
              </a:rPr>
              <a:t>Простота масштабирования (контейнеризация и модульная структура)</a:t>
            </a:r>
          </a:p>
          <a:p>
            <a:pPr algn="l" marL="525780" indent="-175260" lvl="2">
              <a:lnSpc>
                <a:spcPts val="322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22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4930454"/>
            <a:ext cx="13716000" cy="5356546"/>
            <a:chOff x="0" y="0"/>
            <a:chExt cx="18288000" cy="71420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7142099"/>
            </a:xfrm>
            <a:custGeom>
              <a:avLst/>
              <a:gdLst/>
              <a:ahLst/>
              <a:cxnLst/>
              <a:rect r="r" b="b" t="t" l="l"/>
              <a:pathLst>
                <a:path h="7142099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142099"/>
                  </a:lnTo>
                  <a:lnTo>
                    <a:pt x="0" y="7142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6356" r="0" b="-14349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510436" y="984809"/>
            <a:ext cx="11658600" cy="8273491"/>
          </a:xfrm>
          <a:custGeom>
            <a:avLst/>
            <a:gdLst/>
            <a:ahLst/>
            <a:cxnLst/>
            <a:rect r="r" b="b" t="t" l="l"/>
            <a:pathLst>
              <a:path h="8273491" w="11658600">
                <a:moveTo>
                  <a:pt x="0" y="0"/>
                </a:moveTo>
                <a:lnTo>
                  <a:pt x="11658600" y="0"/>
                </a:lnTo>
                <a:lnTo>
                  <a:pt x="11658600" y="8273491"/>
                </a:lnTo>
                <a:lnTo>
                  <a:pt x="0" y="82734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41349" y="3021920"/>
            <a:ext cx="664764" cy="664764"/>
          </a:xfrm>
          <a:custGeom>
            <a:avLst/>
            <a:gdLst/>
            <a:ahLst/>
            <a:cxnLst/>
            <a:rect r="r" b="b" t="t" l="l"/>
            <a:pathLst>
              <a:path h="664764" w="664764">
                <a:moveTo>
                  <a:pt x="0" y="0"/>
                </a:moveTo>
                <a:lnTo>
                  <a:pt x="664764" y="0"/>
                </a:lnTo>
                <a:lnTo>
                  <a:pt x="664764" y="664765"/>
                </a:lnTo>
                <a:lnTo>
                  <a:pt x="0" y="6647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94216" y="1528186"/>
            <a:ext cx="6150412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25"/>
              </a:lnSpc>
            </a:pPr>
            <a:r>
              <a:rPr lang="en-US" sz="10125" b="true">
                <a:solidFill>
                  <a:srgbClr val="262262"/>
                </a:solidFill>
                <a:latin typeface="Oswald Bold"/>
                <a:ea typeface="Oswald Bold"/>
                <a:cs typeface="Oswald Bold"/>
                <a:sym typeface="Oswald Bold"/>
              </a:rPr>
              <a:t>Технологии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52053" y="3077380"/>
            <a:ext cx="8606257" cy="60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52053" y="3885019"/>
            <a:ext cx="8606257" cy="60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LLM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52053" y="4692658"/>
            <a:ext cx="8606257" cy="60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Vector DB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52053" y="7331805"/>
            <a:ext cx="8606257" cy="60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Telegram API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52053" y="6426818"/>
            <a:ext cx="8606257" cy="60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n8n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52053" y="5562029"/>
            <a:ext cx="8606257" cy="60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Embeddings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52053" y="8309379"/>
            <a:ext cx="8606257" cy="534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Docker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541349" y="3829560"/>
            <a:ext cx="664764" cy="664764"/>
          </a:xfrm>
          <a:custGeom>
            <a:avLst/>
            <a:gdLst/>
            <a:ahLst/>
            <a:cxnLst/>
            <a:rect r="r" b="b" t="t" l="l"/>
            <a:pathLst>
              <a:path h="664764" w="664764">
                <a:moveTo>
                  <a:pt x="0" y="0"/>
                </a:moveTo>
                <a:lnTo>
                  <a:pt x="664764" y="0"/>
                </a:lnTo>
                <a:lnTo>
                  <a:pt x="664764" y="664764"/>
                </a:lnTo>
                <a:lnTo>
                  <a:pt x="0" y="6647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541349" y="4637199"/>
            <a:ext cx="664764" cy="664764"/>
          </a:xfrm>
          <a:custGeom>
            <a:avLst/>
            <a:gdLst/>
            <a:ahLst/>
            <a:cxnLst/>
            <a:rect r="r" b="b" t="t" l="l"/>
            <a:pathLst>
              <a:path h="664764" w="664764">
                <a:moveTo>
                  <a:pt x="0" y="0"/>
                </a:moveTo>
                <a:lnTo>
                  <a:pt x="664764" y="0"/>
                </a:lnTo>
                <a:lnTo>
                  <a:pt x="664764" y="664764"/>
                </a:lnTo>
                <a:lnTo>
                  <a:pt x="0" y="6647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541349" y="5506569"/>
            <a:ext cx="664764" cy="664764"/>
          </a:xfrm>
          <a:custGeom>
            <a:avLst/>
            <a:gdLst/>
            <a:ahLst/>
            <a:cxnLst/>
            <a:rect r="r" b="b" t="t" l="l"/>
            <a:pathLst>
              <a:path h="664764" w="664764">
                <a:moveTo>
                  <a:pt x="0" y="0"/>
                </a:moveTo>
                <a:lnTo>
                  <a:pt x="664764" y="0"/>
                </a:lnTo>
                <a:lnTo>
                  <a:pt x="664764" y="664764"/>
                </a:lnTo>
                <a:lnTo>
                  <a:pt x="0" y="6647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541349" y="6371358"/>
            <a:ext cx="664764" cy="664764"/>
          </a:xfrm>
          <a:custGeom>
            <a:avLst/>
            <a:gdLst/>
            <a:ahLst/>
            <a:cxnLst/>
            <a:rect r="r" b="b" t="t" l="l"/>
            <a:pathLst>
              <a:path h="664764" w="664764">
                <a:moveTo>
                  <a:pt x="0" y="0"/>
                </a:moveTo>
                <a:lnTo>
                  <a:pt x="664764" y="0"/>
                </a:lnTo>
                <a:lnTo>
                  <a:pt x="664764" y="664765"/>
                </a:lnTo>
                <a:lnTo>
                  <a:pt x="0" y="6647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541349" y="7276345"/>
            <a:ext cx="664764" cy="664764"/>
          </a:xfrm>
          <a:custGeom>
            <a:avLst/>
            <a:gdLst/>
            <a:ahLst/>
            <a:cxnLst/>
            <a:rect r="r" b="b" t="t" l="l"/>
            <a:pathLst>
              <a:path h="664764" w="664764">
                <a:moveTo>
                  <a:pt x="0" y="0"/>
                </a:moveTo>
                <a:lnTo>
                  <a:pt x="664764" y="0"/>
                </a:lnTo>
                <a:lnTo>
                  <a:pt x="664764" y="664764"/>
                </a:lnTo>
                <a:lnTo>
                  <a:pt x="0" y="6647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541349" y="8179234"/>
            <a:ext cx="664764" cy="664764"/>
          </a:xfrm>
          <a:custGeom>
            <a:avLst/>
            <a:gdLst/>
            <a:ahLst/>
            <a:cxnLst/>
            <a:rect r="r" b="b" t="t" l="l"/>
            <a:pathLst>
              <a:path h="664764" w="664764">
                <a:moveTo>
                  <a:pt x="0" y="0"/>
                </a:moveTo>
                <a:lnTo>
                  <a:pt x="664764" y="0"/>
                </a:lnTo>
                <a:lnTo>
                  <a:pt x="664764" y="664764"/>
                </a:lnTo>
                <a:lnTo>
                  <a:pt x="0" y="6647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05256" y="3522212"/>
            <a:ext cx="5736088" cy="5736088"/>
          </a:xfrm>
          <a:custGeom>
            <a:avLst/>
            <a:gdLst/>
            <a:ahLst/>
            <a:cxnLst/>
            <a:rect r="r" b="b" t="t" l="l"/>
            <a:pathLst>
              <a:path h="5736088" w="5736088">
                <a:moveTo>
                  <a:pt x="0" y="0"/>
                </a:moveTo>
                <a:lnTo>
                  <a:pt x="5736088" y="0"/>
                </a:lnTo>
                <a:lnTo>
                  <a:pt x="5736088" y="5736088"/>
                </a:lnTo>
                <a:lnTo>
                  <a:pt x="0" y="5736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21582" y="9113644"/>
            <a:ext cx="15016582" cy="1834172"/>
          </a:xfrm>
          <a:custGeom>
            <a:avLst/>
            <a:gdLst/>
            <a:ahLst/>
            <a:cxnLst/>
            <a:rect r="r" b="b" t="t" l="l"/>
            <a:pathLst>
              <a:path h="1834172" w="15016582">
                <a:moveTo>
                  <a:pt x="0" y="0"/>
                </a:moveTo>
                <a:lnTo>
                  <a:pt x="15016582" y="0"/>
                </a:lnTo>
                <a:lnTo>
                  <a:pt x="15016582" y="1834172"/>
                </a:lnTo>
                <a:lnTo>
                  <a:pt x="0" y="1834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1895153" y="8118948"/>
            <a:ext cx="4240797" cy="3338655"/>
          </a:xfrm>
          <a:custGeom>
            <a:avLst/>
            <a:gdLst/>
            <a:ahLst/>
            <a:cxnLst/>
            <a:rect r="r" b="b" t="t" l="l"/>
            <a:pathLst>
              <a:path h="3338655" w="4240797">
                <a:moveTo>
                  <a:pt x="4240797" y="3338655"/>
                </a:moveTo>
                <a:lnTo>
                  <a:pt x="0" y="3338655"/>
                </a:lnTo>
                <a:lnTo>
                  <a:pt x="0" y="0"/>
                </a:lnTo>
                <a:lnTo>
                  <a:pt x="4240797" y="0"/>
                </a:lnTo>
                <a:lnTo>
                  <a:pt x="4240797" y="333865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09" r="0" b="-409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9144000" y="0"/>
            <a:ext cx="6858000" cy="5835539"/>
          </a:xfrm>
          <a:custGeom>
            <a:avLst/>
            <a:gdLst/>
            <a:ahLst/>
            <a:cxnLst/>
            <a:rect r="r" b="b" t="t" l="l"/>
            <a:pathLst>
              <a:path h="5835539" w="6858000">
                <a:moveTo>
                  <a:pt x="6858000" y="5835539"/>
                </a:moveTo>
                <a:lnTo>
                  <a:pt x="0" y="5835539"/>
                </a:lnTo>
                <a:lnTo>
                  <a:pt x="0" y="0"/>
                </a:lnTo>
                <a:lnTo>
                  <a:pt x="6858000" y="0"/>
                </a:lnTo>
                <a:lnTo>
                  <a:pt x="6858000" y="583553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1" t="0" r="-41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31675" y="1655312"/>
            <a:ext cx="6949231" cy="392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25"/>
              </a:lnSpc>
            </a:pPr>
            <a:r>
              <a:rPr lang="en-US" sz="10125" b="true">
                <a:solidFill>
                  <a:srgbClr val="262262"/>
                </a:solidFill>
                <a:latin typeface="Oswald Bold"/>
                <a:ea typeface="Oswald Bold"/>
                <a:cs typeface="Oswald Bold"/>
                <a:sym typeface="Oswald Bold"/>
              </a:rPr>
              <a:t>Возможные б</a:t>
            </a:r>
            <a:r>
              <a:rPr lang="en-US" sz="10125" b="true">
                <a:solidFill>
                  <a:srgbClr val="262262"/>
                </a:solidFill>
                <a:latin typeface="Oswald Bold"/>
                <a:ea typeface="Oswald Bold"/>
                <a:cs typeface="Oswald Bold"/>
                <a:sym typeface="Oswald Bold"/>
              </a:rPr>
              <a:t>изнес-модели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47701" y="6237856"/>
            <a:ext cx="8799405" cy="1912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7730" indent="-205910" lvl="2">
              <a:lnSpc>
                <a:spcPts val="3783"/>
              </a:lnSpc>
              <a:buFont typeface="Arial"/>
              <a:buChar char="⚬"/>
            </a:pPr>
            <a:r>
              <a:rPr lang="en-US" sz="27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SaaS подписка</a:t>
            </a:r>
          </a:p>
          <a:p>
            <a:pPr algn="just" marL="617730" indent="-205910" lvl="2">
              <a:lnSpc>
                <a:spcPts val="3783"/>
              </a:lnSpc>
              <a:buFont typeface="Arial"/>
              <a:buChar char="⚬"/>
            </a:pPr>
            <a:r>
              <a:rPr lang="en-US" sz="27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On-premise лицензии</a:t>
            </a:r>
          </a:p>
          <a:p>
            <a:pPr algn="just" marL="617730" indent="-205910" lvl="2">
              <a:lnSpc>
                <a:spcPts val="3783"/>
              </a:lnSpc>
              <a:buFont typeface="Arial"/>
              <a:buChar char="⚬"/>
            </a:pPr>
            <a:r>
              <a:rPr lang="en-US" sz="27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B2B контракты</a:t>
            </a:r>
          </a:p>
          <a:p>
            <a:pPr algn="just" marL="617730" indent="-205910" lvl="2">
              <a:lnSpc>
                <a:spcPts val="3783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-5400000">
            <a:off x="2291406" y="725338"/>
            <a:ext cx="1236907" cy="1843630"/>
          </a:xfrm>
          <a:custGeom>
            <a:avLst/>
            <a:gdLst/>
            <a:ahLst/>
            <a:cxnLst/>
            <a:rect r="r" b="b" t="t" l="l"/>
            <a:pathLst>
              <a:path h="1843630" w="1236907">
                <a:moveTo>
                  <a:pt x="0" y="0"/>
                </a:moveTo>
                <a:lnTo>
                  <a:pt x="1236907" y="0"/>
                </a:lnTo>
                <a:lnTo>
                  <a:pt x="1236907" y="1843631"/>
                </a:lnTo>
                <a:lnTo>
                  <a:pt x="0" y="18436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24" t="0" r="-324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1637883" y="6676806"/>
            <a:ext cx="4562780" cy="4114800"/>
          </a:xfrm>
          <a:custGeom>
            <a:avLst/>
            <a:gdLst/>
            <a:ahLst/>
            <a:cxnLst/>
            <a:rect r="r" b="b" t="t" l="l"/>
            <a:pathLst>
              <a:path h="4114800" w="4562780">
                <a:moveTo>
                  <a:pt x="4562780" y="0"/>
                </a:moveTo>
                <a:lnTo>
                  <a:pt x="0" y="0"/>
                </a:lnTo>
                <a:lnTo>
                  <a:pt x="0" y="4114800"/>
                </a:lnTo>
                <a:lnTo>
                  <a:pt x="4562780" y="4114800"/>
                </a:lnTo>
                <a:lnTo>
                  <a:pt x="456278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" t="0" r="-10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49653" y="-473812"/>
            <a:ext cx="3017101" cy="2375278"/>
          </a:xfrm>
          <a:custGeom>
            <a:avLst/>
            <a:gdLst/>
            <a:ahLst/>
            <a:cxnLst/>
            <a:rect r="r" b="b" t="t" l="l"/>
            <a:pathLst>
              <a:path h="2375278" w="3017101">
                <a:moveTo>
                  <a:pt x="0" y="0"/>
                </a:moveTo>
                <a:lnTo>
                  <a:pt x="3017101" y="0"/>
                </a:lnTo>
                <a:lnTo>
                  <a:pt x="3017101" y="2375278"/>
                </a:lnTo>
                <a:lnTo>
                  <a:pt x="0" y="23752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87" r="0" b="-48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338329" y="4747079"/>
            <a:ext cx="5736088" cy="5736088"/>
          </a:xfrm>
          <a:custGeom>
            <a:avLst/>
            <a:gdLst/>
            <a:ahLst/>
            <a:cxnLst/>
            <a:rect r="r" b="b" t="t" l="l"/>
            <a:pathLst>
              <a:path h="5736088" w="5736088">
                <a:moveTo>
                  <a:pt x="0" y="0"/>
                </a:moveTo>
                <a:lnTo>
                  <a:pt x="5736088" y="0"/>
                </a:lnTo>
                <a:lnTo>
                  <a:pt x="5736088" y="5736088"/>
                </a:lnTo>
                <a:lnTo>
                  <a:pt x="0" y="5736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97759" y="3713617"/>
            <a:ext cx="8779069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25"/>
              </a:lnSpc>
            </a:pPr>
            <a:r>
              <a:rPr lang="en-US" sz="10125" b="true">
                <a:solidFill>
                  <a:srgbClr val="262262"/>
                </a:solidFill>
                <a:latin typeface="Oswald Bold"/>
                <a:ea typeface="Oswald Bold"/>
                <a:cs typeface="Oswald Bold"/>
                <a:sym typeface="Oswald Bold"/>
              </a:rPr>
              <a:t>Спасибо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DAHEVMre53Q</dc:identifier>
  <dcterms:modified xsi:type="dcterms:W3CDTF">2011-08-01T06:04:30Z</dcterms:modified>
  <cp:revision>1</cp:revision>
  <dc:title>Телеграм-бот для работы с делами Загрузка документов формата PDF/DOCX/TXT Семантический поиск + LLM Ответы: стратегия, риски, позиции</dc:title>
</cp:coreProperties>
</file>